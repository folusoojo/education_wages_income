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Georgia Pro Condense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6385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Capstone Project | Group 5.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380" y="879818"/>
            <a:ext cx="9754495" cy="665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10400" spc="-364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Bridging the Gap: </a:t>
            </a:r>
            <a:r>
              <a:rPr lang="en-US" sz="10400" u="none" strike="noStrike" spc="-364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Education, Wages, and Labour Market Outcomes in Ontario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038429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52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65383" cy="240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00225" y="1476375"/>
            <a:ext cx="1294447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Project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0225" y="3574937"/>
            <a:ext cx="9330942" cy="530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spc="-108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Education, Immigration, and Labour market conditions play a major role in shaping income outcomes in Ontario. As Canada’s most economically active province, Ontario attracts a diverse workforce from different backgrounds. </a:t>
            </a:r>
          </a:p>
          <a:p>
            <a:pPr algn="l">
              <a:lnSpc>
                <a:spcPts val="4680"/>
              </a:lnSpc>
            </a:pPr>
            <a:r>
              <a:rPr lang="en-US" sz="3600" spc="-108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This project explores who earns more, who falls behind and why using data-driven analysis.</a:t>
            </a:r>
          </a:p>
          <a:p>
            <a:pPr algn="l">
              <a:lnSpc>
                <a:spcPts val="4680"/>
              </a:lnSpc>
            </a:pPr>
            <a:r>
              <a:rPr lang="en-US" sz="3600" spc="-108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Our main focus is on wage inequality across education level, gender, job type and Immigration status.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52B1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6963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733425"/>
            <a:ext cx="5753100" cy="226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Questions.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858125" y="2088922"/>
            <a:ext cx="8351803" cy="109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Do immigrants earn lower wages than Canadian-born workers in Ontario?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8125" y="3560325"/>
            <a:ext cx="8351803" cy="109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Does higher education reduce wage inequality?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8125" y="5031728"/>
            <a:ext cx="8351803" cy="109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Do gender wage gaps still exist in today’s </a:t>
            </a:r>
            <a:r>
              <a:rPr lang="en-US" sz="3200" dirty="0" err="1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labour</a:t>
            </a:r>
            <a:r>
              <a:rPr lang="en-US" sz="320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market?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8125" y="6506374"/>
            <a:ext cx="8351803" cy="109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How do differences in hourly wages translate into annual income gaps?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D52B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28405" y="737832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 dirty="0">
                <a:solidFill>
                  <a:srgbClr val="D52B1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Overview.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42392" y="2320502"/>
            <a:ext cx="8816908" cy="269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0"/>
              </a:lnSpc>
            </a:pPr>
            <a:r>
              <a:rPr lang="en-US" sz="3200" spc="-96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 dataset analyses Ontario’s Labour market using the education level data from Open Ontario (2006 - 2022) and CIS data from Statistics Canada (2018 - 2022).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spc="-96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 CIS data was originally provided in TXT format, cleaned, merged with Statistics Canada data using Python, and visualized in Tableau.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42392" y="5148943"/>
            <a:ext cx="7417735" cy="417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75"/>
              </a:lnSpc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variables used in this analysis include:</a:t>
            </a:r>
          </a:p>
          <a:p>
            <a:pPr marL="736387" lvl="1" indent="-368194" algn="just">
              <a:lnSpc>
                <a:spcPts val="4775"/>
              </a:lnSpc>
              <a:buFont typeface="Arial"/>
              <a:buChar char="•"/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Education</a:t>
            </a:r>
          </a:p>
          <a:p>
            <a:pPr marL="736387" lvl="1" indent="-368194" algn="just">
              <a:lnSpc>
                <a:spcPts val="4775"/>
              </a:lnSpc>
              <a:buFont typeface="Arial"/>
              <a:buChar char="•"/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Gender</a:t>
            </a:r>
          </a:p>
          <a:p>
            <a:pPr marL="736387" lvl="1" indent="-368194" algn="just">
              <a:lnSpc>
                <a:spcPts val="4775"/>
              </a:lnSpc>
              <a:buFont typeface="Arial"/>
              <a:buChar char="•"/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Immigration Status</a:t>
            </a:r>
          </a:p>
          <a:p>
            <a:pPr marL="736387" lvl="1" indent="-368194" algn="just">
              <a:lnSpc>
                <a:spcPts val="4775"/>
              </a:lnSpc>
              <a:buFont typeface="Arial"/>
              <a:buChar char="•"/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Type of work</a:t>
            </a:r>
          </a:p>
          <a:p>
            <a:pPr marL="736387" lvl="1" indent="-368194" algn="just">
              <a:lnSpc>
                <a:spcPts val="4775"/>
              </a:lnSpc>
              <a:buFont typeface="Arial"/>
              <a:buChar char="•"/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Hourly Wages</a:t>
            </a:r>
          </a:p>
          <a:p>
            <a:pPr marL="736387" lvl="1" indent="-368194" algn="just">
              <a:lnSpc>
                <a:spcPts val="4775"/>
              </a:lnSpc>
              <a:buFont typeface="Arial"/>
              <a:buChar char="•"/>
            </a:pPr>
            <a:r>
              <a:rPr lang="en-US" sz="3410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Annual Income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68158" cy="930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565150"/>
            <a:ext cx="6886575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dirty="0">
                <a:solidFill>
                  <a:srgbClr val="D52B1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466" y="2014874"/>
            <a:ext cx="7525553" cy="1308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>
              <a:lnSpc>
                <a:spcPts val="3499"/>
              </a:lnSpc>
              <a:buFont typeface="Arial"/>
              <a:buChar char="•"/>
            </a:pPr>
            <a:r>
              <a:rPr lang="en-US" sz="2499" spc="-37" dirty="0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Collected Ontario demographic and education data from Open Canada (2006- 2022) and income data from Statistics Canada (2018-2022).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8466" y="3478011"/>
            <a:ext cx="7525553" cy="86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Cleaned and merged both datasets using Python (Pandas and Numpy).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8466" y="4395694"/>
            <a:ext cx="7525553" cy="86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Converted raw text files into structured, analysis- ready datasets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8466" y="5417936"/>
            <a:ext cx="7525553" cy="86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Handled missing values and standardized key variables across all categories.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8466" y="6335511"/>
            <a:ext cx="7525553" cy="86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Performed exploratory data analysis to examine trends and group differences.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8466" y="7357915"/>
            <a:ext cx="7525553" cy="130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Built interactive dashboards in Tableau to analyze wages by Education, Immigration Status, Gender, Type of Work.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8466" y="8818361"/>
            <a:ext cx="7525553" cy="86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Interpreted results to identify key wage and income inequality patterns.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52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65383" cy="240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00225" y="1476375"/>
            <a:ext cx="1294447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29778" y="797243"/>
            <a:ext cx="14228445" cy="8692515"/>
          </a:xfrm>
          <a:custGeom>
            <a:avLst/>
            <a:gdLst/>
            <a:ahLst/>
            <a:cxnLst/>
            <a:rect l="l" t="t" r="r" b="b"/>
            <a:pathLst>
              <a:path w="14228445" h="8692515">
                <a:moveTo>
                  <a:pt x="0" y="0"/>
                </a:moveTo>
                <a:lnTo>
                  <a:pt x="14228444" y="0"/>
                </a:lnTo>
                <a:lnTo>
                  <a:pt x="14228444" y="8692514"/>
                </a:lnTo>
                <a:lnTo>
                  <a:pt x="0" y="869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660" t="-7294" r="-15335" b="-1147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29594" y="797175"/>
            <a:ext cx="14228813" cy="8692650"/>
          </a:xfrm>
          <a:custGeom>
            <a:avLst/>
            <a:gdLst/>
            <a:ahLst/>
            <a:cxnLst/>
            <a:rect l="l" t="t" r="r" b="b"/>
            <a:pathLst>
              <a:path w="14228813" h="8692650">
                <a:moveTo>
                  <a:pt x="0" y="0"/>
                </a:moveTo>
                <a:lnTo>
                  <a:pt x="14228812" y="0"/>
                </a:lnTo>
                <a:lnTo>
                  <a:pt x="14228812" y="8692650"/>
                </a:lnTo>
                <a:lnTo>
                  <a:pt x="0" y="869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127" t="-11264" r="-14894" b="-661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29777" y="797243"/>
            <a:ext cx="14228445" cy="8692515"/>
          </a:xfrm>
          <a:custGeom>
            <a:avLst/>
            <a:gdLst/>
            <a:ahLst/>
            <a:cxnLst/>
            <a:rect l="l" t="t" r="r" b="b"/>
            <a:pathLst>
              <a:path w="14228445" h="8692515">
                <a:moveTo>
                  <a:pt x="0" y="0"/>
                </a:moveTo>
                <a:lnTo>
                  <a:pt x="14228446" y="0"/>
                </a:lnTo>
                <a:lnTo>
                  <a:pt x="14228446" y="8692514"/>
                </a:lnTo>
                <a:lnTo>
                  <a:pt x="0" y="869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89" t="-7602" r="-7729" b="-290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29778" y="797242"/>
            <a:ext cx="14228445" cy="8692515"/>
          </a:xfrm>
          <a:custGeom>
            <a:avLst/>
            <a:gdLst/>
            <a:ahLst/>
            <a:cxnLst/>
            <a:rect l="l" t="t" r="r" b="b"/>
            <a:pathLst>
              <a:path w="14228445" h="8692515">
                <a:moveTo>
                  <a:pt x="0" y="0"/>
                </a:moveTo>
                <a:lnTo>
                  <a:pt x="14228444" y="0"/>
                </a:lnTo>
                <a:lnTo>
                  <a:pt x="14228444" y="8692516"/>
                </a:lnTo>
                <a:lnTo>
                  <a:pt x="0" y="8692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6" t="-6340" r="-6102" b="-286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52B1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6963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53151" y="1255714"/>
            <a:ext cx="9015699" cy="476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4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Hourly wages increase with higher education levels.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733425"/>
            <a:ext cx="5753100" cy="1149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Insights.</a:t>
            </a:r>
          </a:p>
        </p:txBody>
      </p:sp>
      <p:sp>
        <p:nvSpPr>
          <p:cNvPr id="7" name="Freeform 7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453151" y="2082253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Immigrants earn less than Canadian-born workers at every education level.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3151" y="3368074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 wage gap between immigrants and Canadian-born remains even in full-time employment.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3151" y="4653895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There’s little to no hourly wage difference between males and females in this dataset.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3151" y="5939716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University graduates earn the highest hourly and annual incomes.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53151" y="7225537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 income gap between immigrants and non-immigrants is largest at higher education levels.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53151" y="8511358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Wages showed a temporary decline during 2020-2021 due to COVID-19, but recovered afterward.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D52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65383" cy="240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800225" y="1476375"/>
            <a:ext cx="12944475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Challenges and Recommendations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52B1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6963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733425"/>
            <a:ext cx="5753100" cy="1149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 dirty="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Challenges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55028" y="1863727"/>
            <a:ext cx="8324850" cy="13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 data is ethically anonymized and aggregated, which means individual career paths cannot be tracked.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55028" y="3624771"/>
            <a:ext cx="8324850" cy="13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 dirty="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This dataset contains more immigrant observations than Canadian-born workers, which may affect how representative some comparisons are.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55028" y="5386814"/>
            <a:ext cx="8324850" cy="9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The analysis focuses only on Ontario, so the results cannot be generalized to all of Canada.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55028" y="6691685"/>
            <a:ext cx="8324850" cy="13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Occupation and industry-level details are not available, limiting deeper explanations of Job-specific wage differences.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55028" y="8453729"/>
            <a:ext cx="8324850" cy="13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-45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Some wage differences may be influenced by full-time or part-time work, not only by education or immigration status.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D52B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D52B1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18358" y="2091164"/>
            <a:ext cx="8540942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 dirty="0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Employers should be encouraged to adopt standardized pay structures and promotion policies to reduce unfair wage differences.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72381" y="4072364"/>
            <a:ext cx="854094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Expand access to Canadian work experience through internships, co-op placements.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6404" y="5529690"/>
            <a:ext cx="8432896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Improved foreign credential recognition systems so immigrants can work in fields matching their education.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6404" y="7509128"/>
            <a:ext cx="8432896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Develop more affordable and accessible re-certification programs to help immigrants meet Canadian licensing requirements.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68158" cy="930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106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D52B1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Future 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8574" y="4033702"/>
            <a:ext cx="832485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 longer time range can be used to track how wages change over many years and not just short-term trends.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8574" y="5710103"/>
            <a:ext cx="832485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Comparing Ontario with other provinces can help identify whether these wage gaps are unique to Ontario or part of a national trend.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8574" y="7386503"/>
            <a:ext cx="832485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Adding more employee background details where necessary could help better explain what drives wage differences.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574" y="2355769"/>
            <a:ext cx="8324850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44" dirty="0">
                <a:solidFill>
                  <a:srgbClr val="1A1A1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Future studies can include job types and industry data to better explain why wage gaps exist across different kinds of work.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D52B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03759" y="942975"/>
            <a:ext cx="8317491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D52B1E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776652" y="4311288"/>
            <a:ext cx="5797251" cy="288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spc="-49">
                <a:solidFill>
                  <a:srgbClr val="26385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Group Members: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-49">
                <a:solidFill>
                  <a:srgbClr val="26385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Ameenat  Ali - 0873961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-49">
                <a:solidFill>
                  <a:srgbClr val="26385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Foluso Ojo - 0876471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-49">
                <a:solidFill>
                  <a:srgbClr val="26385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Gupreet Kaur - 0877408</a:t>
            </a:r>
          </a:p>
          <a:p>
            <a:pPr marL="712472" lvl="1" indent="-356236" algn="just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 spc="-49">
                <a:solidFill>
                  <a:srgbClr val="26385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Pei- Ru Chen - 0863567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</TotalTime>
  <Words>662</Words>
  <Application>Microsoft Office PowerPoint</Application>
  <PresentationFormat>Custom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Georgia Pro Condensed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Bridging the Gap: Education, Wages &amp; Labour Market Outcomes for Immigrants in Ontario</dc:title>
  <cp:lastModifiedBy>Foluso Ojo</cp:lastModifiedBy>
  <cp:revision>4</cp:revision>
  <dcterms:created xsi:type="dcterms:W3CDTF">2006-08-16T00:00:00Z</dcterms:created>
  <dcterms:modified xsi:type="dcterms:W3CDTF">2025-12-01T18:05:36Z</dcterms:modified>
  <dc:identifier>DAG6G6LSk1o</dc:identifier>
</cp:coreProperties>
</file>